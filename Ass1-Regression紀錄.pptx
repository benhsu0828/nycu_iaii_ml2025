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6426AA-98F4-91BC-21F4-3D21BB70F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8F074E8-782A-DF89-8164-BDC224F18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AC390F-BDE1-BD92-306A-2A2B589F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9AEDD6-0C6F-EE52-5A58-0F8B3549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7F2C5C-8E2C-A215-E69B-D6226B0C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529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D7BC42-2690-BA3F-E2A9-DD0D6A7A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3D522A-8C86-3212-817E-9746D0F94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E72D9-894E-463B-A146-7E48A0F7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D5BEEB-9CB2-860A-2C71-E27963ED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5B7154-BB6D-D128-0FA8-1C63C9A4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318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594169-3139-2630-A200-4B2E1EADC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467A62-7E97-59E8-C2BF-6E6DFF9AF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90E054-8160-39D5-1DE7-2FC08D6F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62E5A2-6DDA-09EC-F3E6-6894E063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9052AA-42AD-BF85-64A8-4FC95423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1838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01916D-A781-39CA-E871-F570869E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8B4F17-8EA0-8312-6E07-0D6C4F15C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FDAB53-F3D6-8403-BD46-2D5EEA94D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51342E-E980-4FF9-D7F8-04B71D76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17CF27-117B-5BC5-E8C7-FE6D7C22B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3A8B81F-CB50-88F8-4FE6-C4FF2BBD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1737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CB9EC4-DC35-2C22-85BA-BB367EBA9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46DE03-E06A-50BE-8D4A-CF3AF6E61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668ABC-91DA-76EA-81EB-B90CDC823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719C55-EAB8-2B66-1EF2-BC9512E63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82587C6-D654-E5DB-4F34-BE7C660A4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CDC302F-91CB-E56F-A386-F5157A95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5ED9EB7-E788-DB2C-CA63-AE5CCAD6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5656F51-AB3D-CDB0-00B2-45FCB1C9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8032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9CE331-A79D-BC9F-F387-152A1211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3D96924-46AE-CEDC-0B0C-BEC9FB03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DD70FB4-1D47-997A-541C-44C4F7A6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CC26F5-EB11-C5C8-B560-4B62B77F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370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1C22024-0D83-4B45-181E-3C5E1EE0A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A10987-E323-0DCC-FA09-0772A8D4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09E0D8-FD2D-6BFE-6995-08AACAA8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804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395FEE-F4F3-FB4B-3443-1E292C7A9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E16880-72B2-2B07-8227-7F9406732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31647B-61A4-E9A4-9DD6-93856BA1C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CFEB80-7005-9055-F3BC-DB6069E5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4A77EF-18B9-9BA5-19D7-8CDA9F68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3340B9-C356-B19A-61B0-0A1D1553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45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BA225C-4F57-3747-A512-784ED649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EA2D26D-6556-67E0-1000-E8CA7D060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3AF162-F04A-A33D-8110-F22BDCED2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198EE6-959C-F89D-C1B0-804F75EB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C3F141-859B-10ED-2757-132E8A85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2698BD-1433-A335-28EE-CB86B881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57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43A20-CCAD-41CE-34A3-22C01D18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FAA33C7-E123-A251-2DFA-24F5485C3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648BCA-4CFB-8F9F-6570-1869F216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9AE4CB-66EC-0478-2FC0-164DCD20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08C835-09C2-B709-F51D-07E3FD1E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8573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F503B47-27DF-FC19-DE9E-1216D6266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380A00F-3355-0DEE-0117-D2E11BF75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01B110-0CDC-B979-0049-080E30CB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7E3BFF-7EA4-B737-E746-D89164FB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42084A-92C1-74D4-5F42-B98BC82F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9208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315A4F3-11EB-A758-09CF-761C8DE2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A38F5D-F2FB-30C6-7619-824FFDA31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825374-9BCA-8733-49ED-82FD4007B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48890-1A3C-2D41-9BC6-172E7EF06196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4B881A-DA0E-1718-4CCD-EDB3013B3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807670-802E-2157-EA9C-8819A6342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437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CE7E51-04E7-7298-3115-29C7906FA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" altLang="zh-TW"/>
              <a:t>NYCU_IAII_ML2025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B6AA816-1814-A70B-4370-F88F26739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" altLang="zh-TW"/>
              <a:t>Ass1-Regression</a:t>
            </a:r>
          </a:p>
          <a:p>
            <a:r>
              <a:rPr kumimoji="1" lang="zh-TW" altLang="en-US"/>
              <a:t>實驗數據記錄</a:t>
            </a:r>
          </a:p>
        </p:txBody>
      </p:sp>
    </p:spTree>
    <p:extLst>
      <p:ext uri="{BB962C8B-B14F-4D97-AF65-F5344CB8AC3E}">
        <p14:creationId xmlns:p14="http://schemas.microsoft.com/office/powerpoint/2010/main" val="161105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663FE-3269-7850-93B5-17D264AC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>
                <a:ea typeface="新細明體"/>
              </a:rPr>
              <a:t>Data</a:t>
            </a:r>
            <a:endParaRPr lang="zh-TW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A19EDF2-7C91-2DF2-5F7F-F7DA53C1E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213565"/>
              </p:ext>
            </p:extLst>
          </p:nvPr>
        </p:nvGraphicFramePr>
        <p:xfrm>
          <a:off x="1175339" y="1502962"/>
          <a:ext cx="10292076" cy="577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019">
                  <a:extLst>
                    <a:ext uri="{9D8B030D-6E8A-4147-A177-3AD203B41FA5}">
                      <a16:colId xmlns:a16="http://schemas.microsoft.com/office/drawing/2014/main" val="4131505418"/>
                    </a:ext>
                  </a:extLst>
                </a:gridCol>
                <a:gridCol w="2573019">
                  <a:extLst>
                    <a:ext uri="{9D8B030D-6E8A-4147-A177-3AD203B41FA5}">
                      <a16:colId xmlns:a16="http://schemas.microsoft.com/office/drawing/2014/main" val="988449091"/>
                    </a:ext>
                  </a:extLst>
                </a:gridCol>
                <a:gridCol w="2573019">
                  <a:extLst>
                    <a:ext uri="{9D8B030D-6E8A-4147-A177-3AD203B41FA5}">
                      <a16:colId xmlns:a16="http://schemas.microsoft.com/office/drawing/2014/main" val="2136782066"/>
                    </a:ext>
                  </a:extLst>
                </a:gridCol>
                <a:gridCol w="2573019">
                  <a:extLst>
                    <a:ext uri="{9D8B030D-6E8A-4147-A177-3AD203B41FA5}">
                      <a16:colId xmlns:a16="http://schemas.microsoft.com/office/drawing/2014/main" val="289356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/>
                        <a:t>資料欄位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Train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Vail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kern="1200" noProof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Test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662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鄉鎮市區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260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227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239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74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交易標的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4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['房地(土地+建物)+車位', '房地(土地+建物)', '車位', '建物']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3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['房地(土地+建物)', '房地(土地+建物)+車位', '車位']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類別數量</a:t>
                      </a:r>
                      <a:r>
                        <a:rPr lang="en-US" alt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:</a:t>
                      </a: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4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['房地(土地+建物)+車位', '房地(土地+建物)', '車位', '建物']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136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都市土地使用分區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5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['其他', '商', '住', '工', '農']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5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['住', '商', '其他', '工', '農']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類別數量</a:t>
                      </a:r>
                      <a:r>
                        <a:rPr lang="en-US" alt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:</a:t>
                      </a: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5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['住', '商', '其他', '農', '工']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03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交易筆棟數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344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140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171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807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建物型態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12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['住宅大樓(11層含以上有電梯)', '華廈(10層含以下有電梯)', '店面(店鋪)', '透天厝', '辦公商業大樓', '公寓(5樓含以下無電梯)', '廠辦', ' 工廠', '套房(1房1廳1衛)', '其他', '倉庫', '農舍']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10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['華廈(10層含以下有電梯)', '住宅大樓(11層含以上有電梯)', '透天厝', '店面(店鋪)', '辦公商業大樓', '其他', '工廠', '廠辦', '套房(1房1 廳1衛)', '公寓(5樓含以下無電梯)']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10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['住宅大樓(11層含以上有電梯)', '華廈(10層含以下有電梯)', '透天厝', '店面(店鋪)', '辦公商業大樓', '廠辦', '其他', '工廠', '套房(1房1 廳1衛)', '公寓(5樓含以下無電梯)']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206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60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FC854-1EAD-C694-9628-260EBB6F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D68266-90DA-BDEF-7E4C-77545CB00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線性模型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AF31C8F-AD56-3ED5-80AE-B611CB314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69" y="1826794"/>
            <a:ext cx="7875548" cy="3459356"/>
          </a:xfrm>
          <a:prstGeom prst="rect">
            <a:avLst/>
          </a:prstGeom>
        </p:spPr>
      </p:pic>
      <p:pic>
        <p:nvPicPr>
          <p:cNvPr id="4" name="圖片 3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7D67E8F2-B950-0C29-EE53-0E2F17424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26" y="5671208"/>
            <a:ext cx="9690643" cy="7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7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9BA29-A0C9-B5D1-0199-1EB9613F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40A394-2E5D-3FA9-BCE8-792D2677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樹模型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487948-AA97-54DE-62C8-FF7D3A001B89}"/>
              </a:ext>
            </a:extLst>
          </p:cNvPr>
          <p:cNvGraphicFramePr>
            <a:graphicFrameLocks noGrp="1"/>
          </p:cNvGraphicFramePr>
          <p:nvPr/>
        </p:nvGraphicFramePr>
        <p:xfrm>
          <a:off x="2348841" y="1960290"/>
          <a:ext cx="9615486" cy="3529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5162">
                  <a:extLst>
                    <a:ext uri="{9D8B030D-6E8A-4147-A177-3AD203B41FA5}">
                      <a16:colId xmlns:a16="http://schemas.microsoft.com/office/drawing/2014/main" val="185953650"/>
                    </a:ext>
                  </a:extLst>
                </a:gridCol>
                <a:gridCol w="3205162">
                  <a:extLst>
                    <a:ext uri="{9D8B030D-6E8A-4147-A177-3AD203B41FA5}">
                      <a16:colId xmlns:a16="http://schemas.microsoft.com/office/drawing/2014/main" val="1897875277"/>
                    </a:ext>
                  </a:extLst>
                </a:gridCol>
                <a:gridCol w="3205162">
                  <a:extLst>
                    <a:ext uri="{9D8B030D-6E8A-4147-A177-3AD203B41FA5}">
                      <a16:colId xmlns:a16="http://schemas.microsoft.com/office/drawing/2014/main" val="1029621273"/>
                    </a:ext>
                  </a:extLst>
                </a:gridCol>
              </a:tblGrid>
              <a:tr h="1288857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" alt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err="1"/>
                        <a:t>CatBoost</a:t>
                      </a:r>
                      <a:endParaRPr lang="en" alt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err="1"/>
                        <a:t>LightGBM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829645"/>
                  </a:ext>
                </a:extLst>
              </a:tr>
              <a:tr h="7467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Valid_MAE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3.074588e+06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1.769046e+06 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523823"/>
                  </a:ext>
                </a:extLst>
              </a:tr>
              <a:tr h="74671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873037"/>
                  </a:ext>
                </a:extLst>
              </a:tr>
              <a:tr h="74671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661386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688A53C0-855B-B8CC-D8A4-EAB8203AF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2" y="5822136"/>
            <a:ext cx="11127057" cy="68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2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8DF368-7195-63FC-AC2B-F93BC4C2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-220314"/>
            <a:ext cx="10515600" cy="1325563"/>
          </a:xfrm>
        </p:spPr>
        <p:txBody>
          <a:bodyPr/>
          <a:lstStyle/>
          <a:p>
            <a:r>
              <a:rPr kumimoji="1" lang="zh-TW" altLang="en-US"/>
              <a:t>深度學習模型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3662F2-67EE-EBE6-83F2-5A25EE648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236" y="3051485"/>
            <a:ext cx="5123365" cy="189880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C68BBC6-D37A-0D57-3393-CF5B60110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830" y="523952"/>
            <a:ext cx="5118100" cy="2374900"/>
          </a:xfrm>
          <a:prstGeom prst="rect">
            <a:avLst/>
          </a:prstGeom>
        </p:spPr>
      </p:pic>
      <p:pic>
        <p:nvPicPr>
          <p:cNvPr id="7" name="圖片 6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F8F49B6F-4B9B-BB42-6B2B-367FB929A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" y="4408334"/>
            <a:ext cx="5076825" cy="1609725"/>
          </a:xfrm>
          <a:prstGeom prst="rect">
            <a:avLst/>
          </a:prstGeom>
        </p:spPr>
      </p:pic>
      <p:pic>
        <p:nvPicPr>
          <p:cNvPr id="8" name="圖片 7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7217D343-8253-8A28-25A4-17A7BF32C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576" y="830301"/>
            <a:ext cx="2902802" cy="3422495"/>
          </a:xfrm>
          <a:prstGeom prst="rect">
            <a:avLst/>
          </a:prstGeom>
        </p:spPr>
      </p:pic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F173986B-4DBB-3978-745C-B4F43985A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4205" y="5212730"/>
            <a:ext cx="6840809" cy="512027"/>
          </a:xfrm>
          <a:prstGeom prst="rect">
            <a:avLst/>
          </a:prstGeom>
        </p:spPr>
      </p:pic>
      <p:pic>
        <p:nvPicPr>
          <p:cNvPr id="9" name="圖片 8" descr="一張含有 螢幕擷取畫面, 文字, 字型 的圖片&#10;&#10;AI 產生的內容可能不正確。">
            <a:extLst>
              <a:ext uri="{FF2B5EF4-FFF2-40B4-BE49-F238E27FC236}">
                <a16:creationId xmlns:a16="http://schemas.microsoft.com/office/drawing/2014/main" id="{2FC6D157-3D1E-18D1-B9C6-F1D446486C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190" y="6236783"/>
            <a:ext cx="5158137" cy="32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2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285FAE-F2B6-D9EB-923C-40113A6F1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/>
              </a:rPr>
              <a:t>將資料移除月份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FEC24DC-546D-5F54-0F5E-ABA4B29324B5}"/>
              </a:ext>
            </a:extLst>
          </p:cNvPr>
          <p:cNvSpPr txBox="1"/>
          <p:nvPr/>
        </p:nvSpPr>
        <p:spPr>
          <a:xfrm>
            <a:off x="1035205" y="1546302"/>
            <a:ext cx="48154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dirty="0">
                <a:ea typeface="+mn-lt"/>
                <a:cs typeface="+mn-lt"/>
              </a:rPr>
              <a:t>V3 model 100 epoch</a:t>
            </a:r>
          </a:p>
          <a:p>
            <a:r>
              <a:rPr lang="en-US" altLang="zh-TW" dirty="0">
                <a:ea typeface="+mn-lt"/>
                <a:cs typeface="+mn-lt"/>
              </a:rPr>
              <a:t>-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en-US" altLang="zh-TW" dirty="0" err="1">
                <a:ea typeface="+mn-lt"/>
                <a:cs typeface="+mn-lt"/>
              </a:rPr>
              <a:t>mae</a:t>
            </a:r>
            <a:r>
              <a:rPr lang="en-US" altLang="zh-TW" dirty="0">
                <a:ea typeface="+mn-lt"/>
                <a:cs typeface="+mn-lt"/>
              </a:rPr>
              <a:t>: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en-US" altLang="zh-TW" dirty="0">
                <a:ea typeface="+mn-lt"/>
                <a:cs typeface="+mn-lt"/>
              </a:rPr>
              <a:t>2657732.7500 -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en-US" altLang="zh-TW" dirty="0">
                <a:ea typeface="+mn-lt"/>
                <a:cs typeface="+mn-lt"/>
              </a:rPr>
              <a:t>v</a:t>
            </a:r>
            <a:r>
              <a:rPr lang="zh-TW" sz="1800" baseline="0">
                <a:ea typeface="+mn-lt"/>
                <a:cs typeface="+mn-lt"/>
              </a:rPr>
              <a:t>al_</a:t>
            </a:r>
            <a:r>
              <a:rPr lang="en-US" altLang="zh-TW" dirty="0" err="1">
                <a:ea typeface="+mn-lt"/>
                <a:cs typeface="+mn-lt"/>
              </a:rPr>
              <a:t>mae</a:t>
            </a:r>
            <a:r>
              <a:rPr lang="en-US" altLang="zh-TW" dirty="0">
                <a:ea typeface="+mn-lt"/>
                <a:cs typeface="+mn-lt"/>
              </a:rPr>
              <a:t>: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en-US" altLang="zh-TW" dirty="0">
                <a:ea typeface="+mn-lt"/>
                <a:cs typeface="+mn-lt"/>
              </a:rPr>
              <a:t>3865483.7500</a:t>
            </a:r>
            <a:endParaRPr lang="zh-TW" altLang="en-US">
              <a:ea typeface="新細明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2561029-BE28-07E1-C3A6-68D4E430DC6A}"/>
              </a:ext>
            </a:extLst>
          </p:cNvPr>
          <p:cNvSpPr txBox="1"/>
          <p:nvPr/>
        </p:nvSpPr>
        <p:spPr>
          <a:xfrm>
            <a:off x="1035205" y="3767254"/>
            <a:ext cx="59305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dirty="0">
                <a:ea typeface="新細明體"/>
              </a:rPr>
              <a:t>V2 model 16epoch early stop</a:t>
            </a:r>
          </a:p>
          <a:p>
            <a:r>
              <a:rPr lang="en-US" altLang="zh-TW" dirty="0">
                <a:ea typeface="新細明體"/>
              </a:rPr>
              <a:t>- </a:t>
            </a:r>
            <a:r>
              <a:rPr lang="en-US" altLang="zh-TW" dirty="0" err="1">
                <a:ea typeface="新細明體"/>
              </a:rPr>
              <a:t>mae</a:t>
            </a:r>
            <a:r>
              <a:rPr lang="en-US" altLang="zh-TW" dirty="0">
                <a:ea typeface="新細明體"/>
              </a:rPr>
              <a:t>: 2697483.2500  - </a:t>
            </a:r>
            <a:r>
              <a:rPr lang="en-US" altLang="zh-TW" dirty="0" err="1">
                <a:ea typeface="新細明體"/>
              </a:rPr>
              <a:t>val_mae</a:t>
            </a:r>
            <a:r>
              <a:rPr lang="en-US" altLang="zh-TW" dirty="0">
                <a:ea typeface="新細明體"/>
              </a:rPr>
              <a:t>: 1935191.0000</a:t>
            </a:r>
            <a:endParaRPr lang="en-US"/>
          </a:p>
        </p:txBody>
      </p:sp>
      <p:pic>
        <p:nvPicPr>
          <p:cNvPr id="5" name="圖片 4" descr="一張含有 螢幕擷取畫面, 文字, 字型 的圖片&#10;&#10;AI 產生的內容可能不正確。">
            <a:extLst>
              <a:ext uri="{FF2B5EF4-FFF2-40B4-BE49-F238E27FC236}">
                <a16:creationId xmlns:a16="http://schemas.microsoft.com/office/drawing/2014/main" id="{131B1743-888B-A21E-49E7-E613EAA08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8" y="2483237"/>
            <a:ext cx="10372725" cy="590550"/>
          </a:xfrm>
          <a:prstGeom prst="rect">
            <a:avLst/>
          </a:prstGeom>
        </p:spPr>
      </p:pic>
      <p:pic>
        <p:nvPicPr>
          <p:cNvPr id="6" name="圖片 5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6CE2321-52FA-B155-1AC7-477DF0979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32" y="5055220"/>
            <a:ext cx="111061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25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寬螢幕</PresentationFormat>
  <Slides>6</Slides>
  <Notes>0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NYCU_IAII_ML2025</vt:lpstr>
      <vt:lpstr>Data</vt:lpstr>
      <vt:lpstr>線性模型</vt:lpstr>
      <vt:lpstr>樹模型</vt:lpstr>
      <vt:lpstr>深度學習模型</vt:lpstr>
      <vt:lpstr>將資料移除月份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徐葆驊</dc:creator>
  <cp:revision>26</cp:revision>
  <dcterms:created xsi:type="dcterms:W3CDTF">2025-09-17T07:36:14Z</dcterms:created>
  <dcterms:modified xsi:type="dcterms:W3CDTF">2025-09-30T15:34:58Z</dcterms:modified>
</cp:coreProperties>
</file>